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914400" y="2194560"/>
            <a:ext cx="10332720" cy="1280160"/>
          </a:xfrm>
          <a:prstGeom prst="rect">
            <a:avLst/>
          </a:prstGeom>
          <a:noFill/>
        </p:spPr>
        <p:txBody>
          <a:bodyPr wrap="square" anchor="t">
            <a:spAutoFit/>
          </a:bodyPr>
          <a:lstStyle/>
          <a:p>
            <a:pPr algn="l"/>
            <a:r>
              <a:rPr sz="4000" b="1" i="0">
                <a:solidFill>
                  <a:srgbClr val="FFFFFF"/>
                </a:solidFill>
                <a:latin typeface="Montserrat"/>
              </a:rPr>
              <a:t>CROSSING THE ICE</a:t>
            </a:r>
          </a:p>
          <a:p>
            <a:pPr algn="l"/>
            <a:r>
              <a:rPr sz="4000" b="1" i="0">
                <a:solidFill>
                  <a:srgbClr val="FFFFFF"/>
                </a:solidFill>
                <a:latin typeface="Montserrat"/>
              </a:rPr>
              <a:t>INTERACTIVE KEYNOTE</a:t>
            </a:r>
          </a:p>
        </p:txBody>
      </p:sp>
      <p:sp>
        <p:nvSpPr>
          <p:cNvPr id="3" name="TextBox 2"/>
          <p:cNvSpPr txBox="1"/>
          <p:nvPr/>
        </p:nvSpPr>
        <p:spPr>
          <a:xfrm>
            <a:off x="914400" y="3566160"/>
            <a:ext cx="10332720" cy="548640"/>
          </a:xfrm>
          <a:prstGeom prst="rect">
            <a:avLst/>
          </a:prstGeom>
          <a:noFill/>
        </p:spPr>
        <p:txBody>
          <a:bodyPr wrap="square" anchor="t">
            <a:spAutoFit/>
          </a:bodyPr>
          <a:lstStyle/>
          <a:p>
            <a:pPr algn="l"/>
            <a:r>
              <a:rPr sz="2000" b="0" i="1">
                <a:solidFill>
                  <a:srgbClr val="7EC8E3"/>
                </a:solidFill>
                <a:latin typeface="Calibri"/>
              </a:rPr>
              <a:t>An interactive session by James Castrission</a:t>
            </a:r>
          </a:p>
        </p:txBody>
      </p:sp>
      <p:sp>
        <p:nvSpPr>
          <p:cNvPr id="4" name="TextBox 3"/>
          <p:cNvSpPr txBox="1"/>
          <p:nvPr/>
        </p:nvSpPr>
        <p:spPr>
          <a:xfrm>
            <a:off x="914400" y="4114800"/>
            <a:ext cx="10332720" cy="457200"/>
          </a:xfrm>
          <a:prstGeom prst="rect">
            <a:avLst/>
          </a:prstGeom>
          <a:noFill/>
        </p:spPr>
        <p:txBody>
          <a:bodyPr wrap="square" anchor="t">
            <a:spAutoFit/>
          </a:bodyPr>
          <a:lstStyle/>
          <a:p>
            <a:pPr algn="l"/>
            <a:r>
              <a:rPr sz="1800" b="0" i="0">
                <a:solidFill>
                  <a:srgbClr val="FFFFFF"/>
                </a:solidFill>
                <a:latin typeface="Calibri"/>
              </a:rPr>
              <a:t>[EVENT_DATE]</a:t>
            </a:r>
          </a:p>
        </p:txBody>
      </p:sp>
      <p:sp>
        <p:nvSpPr>
          <p:cNvPr id="5" name="TextBox 4"/>
          <p:cNvSpPr txBox="1"/>
          <p:nvPr/>
        </p:nvSpPr>
        <p:spPr>
          <a:xfrm>
            <a:off x="914400" y="5943600"/>
            <a:ext cx="10332720" cy="457200"/>
          </a:xfrm>
          <a:prstGeom prst="rect">
            <a:avLst/>
          </a:prstGeom>
          <a:noFill/>
        </p:spPr>
        <p:txBody>
          <a:bodyPr wrap="square" anchor="t">
            <a:spAutoFit/>
          </a:bodyPr>
          <a:lstStyle/>
          <a:p>
            <a:pPr algn="l"/>
            <a:r>
              <a:rPr sz="1600" b="0" i="0">
                <a:solidFill>
                  <a:srgbClr val="7EC8E3"/>
                </a:solidFill>
                <a:latin typeface="Calibri"/>
              </a:rPr>
              <a:t>inspire  ·  engage  ·  explore</a:t>
            </a:r>
          </a:p>
        </p:txBody>
      </p:sp>
      <p:pic>
        <p:nvPicPr>
          <p:cNvPr id="6" name="Picture 5" descr="client_logo" title="client_logo"/>
          <p:cNvPicPr>
            <a:picLocks noChangeAspect="1"/>
          </p:cNvPicPr>
          <p:nvPr/>
        </p:nvPicPr>
        <p:blipFill>
          <a:blip r:embed="rId2"/>
          <a:stretch>
            <a:fillRect/>
          </a:stretch>
        </p:blipFill>
        <p:spPr>
          <a:xfrm>
            <a:off x="9509760" y="457200"/>
            <a:ext cx="2468880" cy="822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640080"/>
          </a:xfrm>
          <a:prstGeom prst="rect">
            <a:avLst/>
          </a:prstGeom>
          <a:noFill/>
        </p:spPr>
        <p:txBody>
          <a:bodyPr wrap="square" anchor="t">
            <a:spAutoFit/>
          </a:bodyPr>
          <a:lstStyle/>
          <a:p>
            <a:pPr algn="l"/>
            <a:r>
              <a:rPr sz="2200" b="1" i="0">
                <a:solidFill>
                  <a:srgbClr val="0B1F33"/>
                </a:solidFill>
                <a:latin typeface="Montserrat"/>
              </a:rPr>
              <a:t>ONE OF AUSTRALIA'S MOST EXPERIENCED AND IN-DEMAND SPEAKERS</a:t>
            </a:r>
          </a:p>
        </p:txBody>
      </p:sp>
      <p:sp>
        <p:nvSpPr>
          <p:cNvPr id="3" name="TextBox 2"/>
          <p:cNvSpPr txBox="1"/>
          <p:nvPr/>
        </p:nvSpPr>
        <p:spPr>
          <a:xfrm>
            <a:off x="731520" y="1371600"/>
            <a:ext cx="10698480" cy="5029200"/>
          </a:xfrm>
          <a:prstGeom prst="rect">
            <a:avLst/>
          </a:prstGeom>
          <a:noFill/>
        </p:spPr>
        <p:txBody>
          <a:bodyPr wrap="square" anchor="t">
            <a:spAutoFit/>
          </a:bodyPr>
          <a:lstStyle/>
          <a:p>
            <a:pPr algn="l"/>
            <a:r>
              <a:rPr sz="1500" b="0" i="0">
                <a:solidFill>
                  <a:srgbClr val="222222"/>
                </a:solidFill>
                <a:latin typeface="Calibri"/>
              </a:rPr>
              <a:t>Hi, I'm James Castrission.</a:t>
            </a:r>
          </a:p>
          <a:p>
            <a:pPr algn="l"/>
            <a:r>
              <a:rPr sz="1500" b="0" i="0">
                <a:solidFill>
                  <a:srgbClr val="222222"/>
                </a:solidFill>
                <a:latin typeface="Calibri"/>
              </a:rPr>
              <a:t/>
            </a:r>
          </a:p>
          <a:p>
            <a:pPr algn="l"/>
            <a:r>
              <a:rPr sz="1500" b="0" i="0">
                <a:solidFill>
                  <a:srgbClr val="222222"/>
                </a:solidFill>
                <a:latin typeface="Calibri"/>
              </a:rPr>
              <a:t>I'm the holder of two Guinness World Records, I've written two best-selling books on adventuring, and in 2016, I was named one of Australia's 50 Greatest Explorers of All Time.</a:t>
            </a:r>
          </a:p>
          <a:p>
            <a:pPr algn="l"/>
            <a:r>
              <a:rPr sz="1500" b="0" i="0">
                <a:solidFill>
                  <a:srgbClr val="222222"/>
                </a:solidFill>
                <a:latin typeface="Calibri"/>
              </a:rPr>
              <a:t/>
            </a:r>
          </a:p>
          <a:p>
            <a:pPr algn="l"/>
            <a:r>
              <a:rPr sz="1500" b="0" i="0">
                <a:solidFill>
                  <a:srgbClr val="222222"/>
                </a:solidFill>
                <a:latin typeface="Calibri"/>
              </a:rPr>
              <a:t>I also spent five years as a management consultant at Deloitte and over the past decade, I have delivered keynotes and run workshops to over 980,000 people at 500+ corporate events in 40 different countries. That means, I understand what you are looking for from a keynote speaker at your next [CLIENT_ORG] event.</a:t>
            </a:r>
          </a:p>
          <a:p>
            <a:pPr algn="l"/>
            <a:r>
              <a:rPr sz="1500" b="0" i="0">
                <a:solidFill>
                  <a:srgbClr val="222222"/>
                </a:solidFill>
                <a:latin typeface="Calibri"/>
              </a:rPr>
              <a:t/>
            </a:r>
          </a:p>
          <a:p>
            <a:pPr algn="l"/>
            <a:r>
              <a:rPr sz="1500" b="0" i="0">
                <a:solidFill>
                  <a:srgbClr val="222222"/>
                </a:solidFill>
                <a:latin typeface="Calibri"/>
              </a:rPr>
              <a:t>Over the following pages, please find information showing how I can add value at your next conference.</a:t>
            </a:r>
          </a:p>
          <a:p>
            <a:pPr algn="l"/>
            <a:r>
              <a:rPr sz="1500" b="0" i="0">
                <a:solidFill>
                  <a:srgbClr val="222222"/>
                </a:solidFill>
                <a:latin typeface="Calibri"/>
              </a:rPr>
              <a:t/>
            </a:r>
          </a:p>
          <a:p>
            <a:pPr algn="l"/>
            <a:r>
              <a:rPr sz="1500" b="0" i="0">
                <a:solidFill>
                  <a:srgbClr val="222222"/>
                </a:solidFill>
                <a:latin typeface="Calibri"/>
              </a:rPr>
              <a:t>I look forward to working with you in creating an unforgettable conference.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7498079" cy="914400"/>
          </a:xfrm>
          <a:prstGeom prst="rect">
            <a:avLst/>
          </a:prstGeom>
          <a:noFill/>
        </p:spPr>
        <p:txBody>
          <a:bodyPr wrap="square" anchor="t">
            <a:spAutoFit/>
          </a:bodyPr>
          <a:lstStyle/>
          <a:p>
            <a:pPr algn="l"/>
            <a:r>
              <a:rPr sz="2400" b="1" i="0">
                <a:solidFill>
                  <a:srgbClr val="0B1F33"/>
                </a:solidFill>
                <a:latin typeface="Montserrat"/>
              </a:rPr>
              <a:t>INSPIRE YOUR AUDIENCE:</a:t>
            </a:r>
          </a:p>
          <a:p>
            <a:pPr algn="l"/>
            <a:r>
              <a:rPr sz="2400" b="1" i="0">
                <a:solidFill>
                  <a:srgbClr val="0B1F33"/>
                </a:solidFill>
                <a:latin typeface="Montserrat"/>
              </a:rPr>
              <a:t>DREAM, DEFY, AND CONQUER</a:t>
            </a:r>
          </a:p>
        </p:txBody>
      </p:sp>
      <p:sp>
        <p:nvSpPr>
          <p:cNvPr id="3" name="TextBox 2"/>
          <p:cNvSpPr txBox="1"/>
          <p:nvPr/>
        </p:nvSpPr>
        <p:spPr>
          <a:xfrm>
            <a:off x="731520" y="1645920"/>
            <a:ext cx="7315200" cy="4572000"/>
          </a:xfrm>
          <a:prstGeom prst="rect">
            <a:avLst/>
          </a:prstGeom>
          <a:noFill/>
        </p:spPr>
        <p:txBody>
          <a:bodyPr wrap="square" anchor="t">
            <a:spAutoFit/>
          </a:bodyPr>
          <a:lstStyle/>
          <a:p>
            <a:pPr algn="l"/>
            <a:r>
              <a:rPr sz="1500" b="0" i="0">
                <a:solidFill>
                  <a:srgbClr val="222222"/>
                </a:solidFill>
                <a:latin typeface="Calibri"/>
              </a:rPr>
              <a:t>Embark on an extraordinary journey with James Castrission, a world-record-breaking adventurer and internationally recognized motivational speaker, regarded as one of Australia's premier public speakers.</a:t>
            </a:r>
          </a:p>
          <a:p>
            <a:pPr algn="l"/>
            <a:r>
              <a:rPr sz="1500" b="0" i="0">
                <a:solidFill>
                  <a:srgbClr val="222222"/>
                </a:solidFill>
                <a:latin typeface="Calibri"/>
              </a:rPr>
              <a:t/>
            </a:r>
          </a:p>
          <a:p>
            <a:pPr algn="l"/>
            <a:r>
              <a:rPr sz="1500" b="0" i="0">
                <a:solidFill>
                  <a:srgbClr val="222222"/>
                </a:solidFill>
                <a:latin typeface="Calibri"/>
              </a:rPr>
              <a:t>Cas captivates audiences with inspiring stories that empower them to reach their full potential. As a record-breaking explorer and former Deloitte management consultant, he understands what it takes to succeed in both worlds—offering unique insights and proven strategies. Cas seamlessly blends adventure with motivation, delivering a truly unforgettable presentation.</a:t>
            </a:r>
          </a:p>
        </p:txBody>
      </p:sp>
      <p:sp>
        <p:nvSpPr>
          <p:cNvPr id="4" name="Rectangle 3"/>
          <p:cNvSpPr/>
          <p:nvPr/>
        </p:nvSpPr>
        <p:spPr>
          <a:xfrm>
            <a:off x="8412480" y="1645920"/>
            <a:ext cx="3017520" cy="420624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spcAft>
                <a:spcPts val="1400"/>
              </a:spcAft>
            </a:pPr>
            <a:r>
              <a:rPr sz="1200" b="1">
                <a:solidFill>
                  <a:srgbClr val="7EC8E3"/>
                </a:solidFill>
                <a:latin typeface="Montserrat"/>
              </a:rPr>
              <a:t>DURATION
</a:t>
            </a:r>
            <a:r>
              <a:rPr sz="1400">
                <a:solidFill>
                  <a:srgbClr val="FFFFFF"/>
                </a:solidFill>
                <a:latin typeface="Calibri"/>
              </a:rPr>
              <a:t>[DURATION]</a:t>
            </a:r>
          </a:p>
          <a:p>
            <a:pPr>
              <a:spcAft>
                <a:spcPts val="1400"/>
              </a:spcAft>
            </a:pPr>
            <a:r>
              <a:rPr sz="1200" b="1">
                <a:solidFill>
                  <a:srgbClr val="7EC8E3"/>
                </a:solidFill>
                <a:latin typeface="Montserrat"/>
              </a:rPr>
              <a:t>DATE
</a:t>
            </a:r>
            <a:r>
              <a:rPr sz="1400">
                <a:solidFill>
                  <a:srgbClr val="FFFFFF"/>
                </a:solidFill>
                <a:latin typeface="Calibri"/>
              </a:rPr>
              <a:t>[EVENT_DATE]</a:t>
            </a:r>
          </a:p>
          <a:p>
            <a:pPr>
              <a:spcAft>
                <a:spcPts val="1400"/>
              </a:spcAft>
            </a:pPr>
            <a:r>
              <a:rPr sz="1200" b="1">
                <a:solidFill>
                  <a:srgbClr val="7EC8E3"/>
                </a:solidFill>
                <a:latin typeface="Montserrat"/>
              </a:rPr>
              <a:t>VENUE
</a:t>
            </a:r>
            <a:r>
              <a:rPr sz="1400">
                <a:solidFill>
                  <a:srgbClr val="FFFFFF"/>
                </a:solidFill>
                <a:latin typeface="Calibri"/>
              </a:rPr>
              <a:t>[VENUE]</a:t>
            </a:r>
          </a:p>
          <a:p>
            <a:pPr>
              <a:spcAft>
                <a:spcPts val="1400"/>
              </a:spcAft>
            </a:pPr>
            <a:r>
              <a:rPr sz="1200" b="1">
                <a:solidFill>
                  <a:srgbClr val="7EC8E3"/>
                </a:solidFill>
                <a:latin typeface="Montserrat"/>
              </a:rPr>
              <a:t>AUDIENCE SIZE
</a:t>
            </a:r>
            <a:r>
              <a:rPr sz="1400">
                <a:solidFill>
                  <a:srgbClr val="FFFFFF"/>
                </a:solidFill>
                <a:latin typeface="Calibri"/>
              </a:rPr>
              <a:t>[AUDIENCE_SIZE]</a:t>
            </a:r>
          </a:p>
          <a:p>
            <a:pPr>
              <a:spcAft>
                <a:spcPts val="1400"/>
              </a:spcAft>
            </a:pPr>
            <a:r>
              <a:rPr sz="1200" b="1">
                <a:solidFill>
                  <a:srgbClr val="7EC8E3"/>
                </a:solidFill>
                <a:latin typeface="Montserrat"/>
              </a:rPr>
              <a:t>SHOWREEL
</a:t>
            </a:r>
            <a:r>
              <a:rPr sz="1400">
                <a:solidFill>
                  <a:srgbClr val="FFFFFF"/>
                </a:solidFill>
                <a:latin typeface="Calibri"/>
              </a:rPr>
              <a:t>Click Play To Watch Showreel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548640"/>
          </a:xfrm>
          <a:prstGeom prst="rect">
            <a:avLst/>
          </a:prstGeom>
          <a:noFill/>
        </p:spPr>
        <p:txBody>
          <a:bodyPr wrap="square" anchor="t">
            <a:spAutoFit/>
          </a:bodyPr>
          <a:lstStyle/>
          <a:p>
            <a:pPr algn="l"/>
            <a:r>
              <a:rPr sz="2400" b="1" i="0">
                <a:solidFill>
                  <a:srgbClr val="0B1F33"/>
                </a:solidFill>
                <a:latin typeface="Montserrat"/>
              </a:rPr>
              <a:t>CROSSING THE ICE</a:t>
            </a:r>
          </a:p>
        </p:txBody>
      </p:sp>
      <p:sp>
        <p:nvSpPr>
          <p:cNvPr id="3" name="TextBox 2"/>
          <p:cNvSpPr txBox="1"/>
          <p:nvPr/>
        </p:nvSpPr>
        <p:spPr>
          <a:xfrm>
            <a:off x="731520" y="1280160"/>
            <a:ext cx="10698480" cy="3931920"/>
          </a:xfrm>
          <a:prstGeom prst="rect">
            <a:avLst/>
          </a:prstGeom>
          <a:noFill/>
        </p:spPr>
        <p:txBody>
          <a:bodyPr wrap="square" anchor="t">
            <a:spAutoFit/>
          </a:bodyPr>
          <a:lstStyle/>
          <a:p>
            <a:pPr algn="l"/>
            <a:r>
              <a:rPr sz="1500" b="0" i="0">
                <a:solidFill>
                  <a:srgbClr val="222222"/>
                </a:solidFill>
                <a:latin typeface="Calibri"/>
              </a:rPr>
              <a:t>Crossing the Ice is a highly inspiring and stimulating talk, packed with practical insights on the power of collaboration and teamwork, mindset for success and navigating highly volatile environments.</a:t>
            </a:r>
          </a:p>
          <a:p>
            <a:pPr algn="l"/>
            <a:r>
              <a:rPr sz="1500" b="0" i="0">
                <a:solidFill>
                  <a:srgbClr val="222222"/>
                </a:solidFill>
                <a:latin typeface="Calibri"/>
              </a:rPr>
              <a:t/>
            </a:r>
          </a:p>
          <a:p>
            <a:pPr algn="l"/>
            <a:r>
              <a:rPr sz="1500" b="0" i="0">
                <a:solidFill>
                  <a:srgbClr val="222222"/>
                </a:solidFill>
                <a:latin typeface="Calibri"/>
              </a:rPr>
              <a:t>This keynote takes your team on a rich audio-visual journey through one of the greatest feats in modern exploration. In 100 years of polar exploration, no one had ever walked from the edge of Antarctica to the South Pole and back without any support. Many had tried. None had succeeded—not until Cas and his partner made history by completing the longest unsupported polar journey. They defied the odds, turning an audacious goal into reality through grit and teamwork.</a:t>
            </a:r>
          </a:p>
          <a:p>
            <a:pPr algn="l"/>
            <a:r>
              <a:rPr sz="1500" b="0" i="0">
                <a:solidFill>
                  <a:srgbClr val="222222"/>
                </a:solidFill>
                <a:latin typeface="Calibri"/>
              </a:rPr>
              <a:t/>
            </a:r>
          </a:p>
          <a:p>
            <a:pPr algn="l"/>
            <a:r>
              <a:rPr sz="1500" b="0" i="0">
                <a:solidFill>
                  <a:srgbClr val="222222"/>
                </a:solidFill>
                <a:latin typeface="Calibri"/>
              </a:rPr>
              <a:t>This high-energy and carefully crafted keynote will ensure your team is on the edge of their seats, empowered with takeaways and lessons they can apply to their professional and personal lives.</a:t>
            </a:r>
          </a:p>
        </p:txBody>
      </p:sp>
      <p:sp>
        <p:nvSpPr>
          <p:cNvPr id="4" name="TextBox 3"/>
          <p:cNvSpPr txBox="1"/>
          <p:nvPr/>
        </p:nvSpPr>
        <p:spPr>
          <a:xfrm>
            <a:off x="731520" y="5486400"/>
            <a:ext cx="2286000" cy="457200"/>
          </a:xfrm>
          <a:prstGeom prst="rect">
            <a:avLst/>
          </a:prstGeom>
          <a:noFill/>
        </p:spPr>
        <p:txBody>
          <a:bodyPr wrap="square" anchor="t">
            <a:spAutoFit/>
          </a:bodyPr>
          <a:lstStyle/>
          <a:p>
            <a:pPr algn="l"/>
            <a:r>
              <a:rPr sz="1400" b="1" i="0">
                <a:solidFill>
                  <a:srgbClr val="0B1F33"/>
                </a:solidFill>
                <a:latin typeface="Montserrat"/>
              </a:rPr>
              <a:t>LEARNING OUTCOMES</a:t>
            </a:r>
          </a:p>
        </p:txBody>
      </p:sp>
      <p:sp>
        <p:nvSpPr>
          <p:cNvPr id="5" name="TextBox 4"/>
          <p:cNvSpPr txBox="1"/>
          <p:nvPr/>
        </p:nvSpPr>
        <p:spPr>
          <a:xfrm>
            <a:off x="731520" y="5943600"/>
            <a:ext cx="10698480" cy="731520"/>
          </a:xfrm>
          <a:prstGeom prst="rect">
            <a:avLst/>
          </a:prstGeom>
          <a:noFill/>
        </p:spPr>
        <p:txBody>
          <a:bodyPr wrap="square">
            <a:spAutoFit/>
          </a:bodyPr>
          <a:lstStyle/>
          <a:p>
            <a:pPr>
              <a:spcAft>
                <a:spcPts val="800"/>
              </a:spcAft>
            </a:pPr>
            <a:r>
              <a:rPr sz="1300">
                <a:solidFill>
                  <a:srgbClr val="222222"/>
                </a:solidFill>
                <a:latin typeface="Calibri"/>
              </a:rPr>
              <a:t>•  Resilience</a:t>
            </a:r>
          </a:p>
          <a:p>
            <a:pPr>
              <a:spcAft>
                <a:spcPts val="800"/>
              </a:spcAft>
            </a:pPr>
            <a:r>
              <a:rPr sz="1300">
                <a:solidFill>
                  <a:srgbClr val="222222"/>
                </a:solidFill>
                <a:latin typeface="Calibri"/>
              </a:rPr>
              <a:t>•  Working Together</a:t>
            </a:r>
          </a:p>
          <a:p>
            <a:pPr>
              <a:spcAft>
                <a:spcPts val="800"/>
              </a:spcAft>
            </a:pPr>
            <a:r>
              <a:rPr sz="1300">
                <a:solidFill>
                  <a:srgbClr val="222222"/>
                </a:solidFill>
                <a:latin typeface="Calibri"/>
              </a:rPr>
              <a:t>•  Adapting to Change</a:t>
            </a:r>
          </a:p>
          <a:p>
            <a:pPr>
              <a:spcAft>
                <a:spcPts val="800"/>
              </a:spcAft>
            </a:pPr>
            <a:r>
              <a:rPr sz="1300">
                <a:solidFill>
                  <a:srgbClr val="222222"/>
                </a:solidFill>
                <a:latin typeface="Calibri"/>
              </a:rPr>
              <a:t>•  Foundations of a High Performance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548640"/>
          </a:xfrm>
          <a:prstGeom prst="rect">
            <a:avLst/>
          </a:prstGeom>
          <a:noFill/>
        </p:spPr>
        <p:txBody>
          <a:bodyPr wrap="square" anchor="t">
            <a:spAutoFit/>
          </a:bodyPr>
          <a:lstStyle/>
          <a:p>
            <a:pPr algn="l"/>
            <a:r>
              <a:rPr sz="2400" b="1" i="0">
                <a:solidFill>
                  <a:srgbClr val="0B1F33"/>
                </a:solidFill>
                <a:latin typeface="Montserrat"/>
              </a:rPr>
              <a:t>FEEDBACK FROM RECENT CLIENTS</a:t>
            </a:r>
          </a:p>
        </p:txBody>
      </p:sp>
      <p:sp>
        <p:nvSpPr>
          <p:cNvPr id="3" name="TextBox 2"/>
          <p:cNvSpPr txBox="1"/>
          <p:nvPr/>
        </p:nvSpPr>
        <p:spPr>
          <a:xfrm>
            <a:off x="731520" y="1645920"/>
            <a:ext cx="10698480" cy="1188720"/>
          </a:xfrm>
          <a:prstGeom prst="rect">
            <a:avLst/>
          </a:prstGeom>
          <a:noFill/>
        </p:spPr>
        <p:txBody>
          <a:bodyPr wrap="square" anchor="t">
            <a:spAutoFit/>
          </a:bodyPr>
          <a:lstStyle/>
          <a:p>
            <a:pPr algn="l"/>
            <a:r>
              <a:rPr sz="1500" b="0" i="1">
                <a:solidFill>
                  <a:srgbClr val="222222"/>
                </a:solidFill>
                <a:latin typeface="Calibri"/>
              </a:rPr>
              <a:t>“...Over the moon with James. Had the entire audience engaged... Everyone was raving about him.”</a:t>
            </a:r>
          </a:p>
        </p:txBody>
      </p:sp>
      <p:sp>
        <p:nvSpPr>
          <p:cNvPr id="4" name="TextBox 3"/>
          <p:cNvSpPr txBox="1"/>
          <p:nvPr/>
        </p:nvSpPr>
        <p:spPr>
          <a:xfrm>
            <a:off x="731520" y="2560320"/>
            <a:ext cx="10698480" cy="365760"/>
          </a:xfrm>
          <a:prstGeom prst="rect">
            <a:avLst/>
          </a:prstGeom>
          <a:noFill/>
        </p:spPr>
        <p:txBody>
          <a:bodyPr wrap="square" anchor="t">
            <a:spAutoFit/>
          </a:bodyPr>
          <a:lstStyle/>
          <a:p>
            <a:pPr algn="l"/>
            <a:r>
              <a:rPr sz="1300" b="1" i="0">
                <a:solidFill>
                  <a:srgbClr val="555555"/>
                </a:solidFill>
                <a:latin typeface="Calibri"/>
              </a:rPr>
              <a:t>— Medical Meetings</a:t>
            </a:r>
          </a:p>
        </p:txBody>
      </p:sp>
      <p:sp>
        <p:nvSpPr>
          <p:cNvPr id="5" name="TextBox 4"/>
          <p:cNvSpPr txBox="1"/>
          <p:nvPr/>
        </p:nvSpPr>
        <p:spPr>
          <a:xfrm>
            <a:off x="731520" y="3200400"/>
            <a:ext cx="10698480" cy="1188720"/>
          </a:xfrm>
          <a:prstGeom prst="rect">
            <a:avLst/>
          </a:prstGeom>
          <a:noFill/>
        </p:spPr>
        <p:txBody>
          <a:bodyPr wrap="square" anchor="t">
            <a:spAutoFit/>
          </a:bodyPr>
          <a:lstStyle/>
          <a:p>
            <a:pPr algn="l"/>
            <a:r>
              <a:rPr sz="1500" b="0" i="1">
                <a:solidFill>
                  <a:srgbClr val="222222"/>
                </a:solidFill>
                <a:latin typeface="Calibri"/>
              </a:rPr>
              <a:t>“...incredibly moving and effective exercise to rapidly help build an understanding of what's more important in team decision making under pressure.”</a:t>
            </a:r>
          </a:p>
        </p:txBody>
      </p:sp>
      <p:sp>
        <p:nvSpPr>
          <p:cNvPr id="6" name="TextBox 5"/>
          <p:cNvSpPr txBox="1"/>
          <p:nvPr/>
        </p:nvSpPr>
        <p:spPr>
          <a:xfrm>
            <a:off x="731520" y="4114800"/>
            <a:ext cx="10698480" cy="365760"/>
          </a:xfrm>
          <a:prstGeom prst="rect">
            <a:avLst/>
          </a:prstGeom>
          <a:noFill/>
        </p:spPr>
        <p:txBody>
          <a:bodyPr wrap="square" anchor="t">
            <a:spAutoFit/>
          </a:bodyPr>
          <a:lstStyle/>
          <a:p>
            <a:pPr algn="l"/>
            <a:r>
              <a:rPr sz="1300" b="1" i="0">
                <a:solidFill>
                  <a:srgbClr val="555555"/>
                </a:solidFill>
                <a:latin typeface="Calibri"/>
              </a:rPr>
              <a:t>— Salesforce</a:t>
            </a:r>
          </a:p>
        </p:txBody>
      </p:sp>
      <p:sp>
        <p:nvSpPr>
          <p:cNvPr id="7" name="TextBox 6"/>
          <p:cNvSpPr txBox="1"/>
          <p:nvPr/>
        </p:nvSpPr>
        <p:spPr>
          <a:xfrm>
            <a:off x="731520" y="4754880"/>
            <a:ext cx="10698480" cy="1188720"/>
          </a:xfrm>
          <a:prstGeom prst="rect">
            <a:avLst/>
          </a:prstGeom>
          <a:noFill/>
        </p:spPr>
        <p:txBody>
          <a:bodyPr wrap="square" anchor="t">
            <a:spAutoFit/>
          </a:bodyPr>
          <a:lstStyle/>
          <a:p>
            <a:pPr algn="l"/>
            <a:r>
              <a:rPr sz="1500" b="0" i="1">
                <a:solidFill>
                  <a:srgbClr val="222222"/>
                </a:solidFill>
                <a:latin typeface="Calibri"/>
              </a:rPr>
              <a:t>“...amazing immersive experience for our leadership team. very awe inspiring!”</a:t>
            </a:r>
          </a:p>
        </p:txBody>
      </p:sp>
      <p:sp>
        <p:nvSpPr>
          <p:cNvPr id="8" name="TextBox 7"/>
          <p:cNvSpPr txBox="1"/>
          <p:nvPr/>
        </p:nvSpPr>
        <p:spPr>
          <a:xfrm>
            <a:off x="731520" y="5669280"/>
            <a:ext cx="10698480" cy="365760"/>
          </a:xfrm>
          <a:prstGeom prst="rect">
            <a:avLst/>
          </a:prstGeom>
          <a:noFill/>
        </p:spPr>
        <p:txBody>
          <a:bodyPr wrap="square" anchor="t">
            <a:spAutoFit/>
          </a:bodyPr>
          <a:lstStyle/>
          <a:p>
            <a:pPr algn="l"/>
            <a:r>
              <a:rPr sz="1300" b="1" i="0">
                <a:solidFill>
                  <a:srgbClr val="555555"/>
                </a:solidFill>
                <a:latin typeface="Calibri"/>
              </a:rPr>
              <a:t>— Uniting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548640"/>
          </a:xfrm>
          <a:prstGeom prst="rect">
            <a:avLst/>
          </a:prstGeom>
          <a:noFill/>
        </p:spPr>
        <p:txBody>
          <a:bodyPr wrap="square" anchor="t">
            <a:spAutoFit/>
          </a:bodyPr>
          <a:lstStyle/>
          <a:p>
            <a:pPr algn="l"/>
            <a:r>
              <a:rPr sz="2400" b="1" i="0">
                <a:solidFill>
                  <a:srgbClr val="0B1F33"/>
                </a:solidFill>
                <a:latin typeface="Montserrat"/>
              </a:rPr>
              <a:t>CONFERENCE GIFTS</a:t>
            </a:r>
          </a:p>
        </p:txBody>
      </p:sp>
      <p:sp>
        <p:nvSpPr>
          <p:cNvPr id="3" name="TextBox 2"/>
          <p:cNvSpPr txBox="1"/>
          <p:nvPr/>
        </p:nvSpPr>
        <p:spPr>
          <a:xfrm>
            <a:off x="731520" y="1463040"/>
            <a:ext cx="10698480" cy="4114800"/>
          </a:xfrm>
          <a:prstGeom prst="rect">
            <a:avLst/>
          </a:prstGeom>
          <a:noFill/>
        </p:spPr>
        <p:txBody>
          <a:bodyPr wrap="square" anchor="t">
            <a:spAutoFit/>
          </a:bodyPr>
          <a:lstStyle/>
          <a:p>
            <a:pPr algn="l"/>
            <a:r>
              <a:rPr sz="1600" b="0" i="0">
                <a:solidFill>
                  <a:srgbClr val="222222"/>
                </a:solidFill>
                <a:latin typeface="Calibri"/>
              </a:rPr>
              <a:t>Aside from having an inspiring experience, many clients like their delegates to leave with a takeaway gift.</a:t>
            </a:r>
          </a:p>
          <a:p>
            <a:pPr algn="l"/>
            <a:r>
              <a:rPr sz="1600" b="0" i="0">
                <a:solidFill>
                  <a:srgbClr val="222222"/>
                </a:solidFill>
                <a:latin typeface="Calibri"/>
              </a:rPr>
              <a:t/>
            </a:r>
          </a:p>
          <a:p>
            <a:pPr algn="l"/>
            <a:r>
              <a:rPr sz="1600" b="0" i="0">
                <a:solidFill>
                  <a:srgbClr val="222222"/>
                </a:solidFill>
                <a:latin typeface="Calibri"/>
              </a:rPr>
              <a:t>These include adventure, branded conference clothing, my books and documentaries...</a:t>
            </a:r>
          </a:p>
          <a:p>
            <a:pPr algn="l"/>
            <a:r>
              <a:rPr sz="1600" b="0" i="0">
                <a:solidFill>
                  <a:srgbClr val="222222"/>
                </a:solidFill>
                <a:latin typeface="Calibri"/>
              </a:rPr>
              <a:t/>
            </a:r>
          </a:p>
          <a:p>
            <a:pPr algn="l"/>
            <a:r>
              <a:rPr sz="1600" b="0" i="0">
                <a:solidFill>
                  <a:srgbClr val="222222"/>
                </a:solidFill>
                <a:latin typeface="Calibri"/>
              </a:rPr>
              <a:t>The possibilities are endless! I'd love to work with your budget ensuring your delegates leave with a physical take away from the experience.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548640"/>
          </a:xfrm>
          <a:prstGeom prst="rect">
            <a:avLst/>
          </a:prstGeom>
          <a:noFill/>
        </p:spPr>
        <p:txBody>
          <a:bodyPr wrap="square" anchor="t">
            <a:spAutoFit/>
          </a:bodyPr>
          <a:lstStyle/>
          <a:p>
            <a:pPr algn="l"/>
            <a:r>
              <a:rPr sz="2400" b="1" i="0">
                <a:solidFill>
                  <a:srgbClr val="0B1F33"/>
                </a:solidFill>
                <a:latin typeface="Montserrat"/>
              </a:rPr>
              <a:t>YOUR INVESTMENT</a:t>
            </a:r>
          </a:p>
        </p:txBody>
      </p:sp>
      <p:sp>
        <p:nvSpPr>
          <p:cNvPr id="3" name="TextBox 2"/>
          <p:cNvSpPr txBox="1"/>
          <p:nvPr/>
        </p:nvSpPr>
        <p:spPr>
          <a:xfrm>
            <a:off x="731520" y="1371600"/>
            <a:ext cx="5029200" cy="365760"/>
          </a:xfrm>
          <a:prstGeom prst="rect">
            <a:avLst/>
          </a:prstGeom>
          <a:noFill/>
        </p:spPr>
        <p:txBody>
          <a:bodyPr wrap="square" anchor="t">
            <a:spAutoFit/>
          </a:bodyPr>
          <a:lstStyle/>
          <a:p>
            <a:pPr algn="l"/>
            <a:r>
              <a:rPr sz="1600" b="1" i="0">
                <a:solidFill>
                  <a:srgbClr val="0B1F33"/>
                </a:solidFill>
                <a:latin typeface="Montserrat"/>
              </a:rPr>
              <a:t>DESIGN</a:t>
            </a:r>
          </a:p>
        </p:txBody>
      </p:sp>
      <p:sp>
        <p:nvSpPr>
          <p:cNvPr id="4" name="TextBox 3"/>
          <p:cNvSpPr txBox="1"/>
          <p:nvPr/>
        </p:nvSpPr>
        <p:spPr>
          <a:xfrm>
            <a:off x="731520" y="1828800"/>
            <a:ext cx="5029200" cy="2743200"/>
          </a:xfrm>
          <a:prstGeom prst="rect">
            <a:avLst/>
          </a:prstGeom>
          <a:noFill/>
        </p:spPr>
        <p:txBody>
          <a:bodyPr wrap="square">
            <a:spAutoFit/>
          </a:bodyPr>
          <a:lstStyle/>
          <a:p>
            <a:pPr>
              <a:spcAft>
                <a:spcPts val="800"/>
              </a:spcAft>
            </a:pPr>
            <a:r>
              <a:rPr sz="1300">
                <a:solidFill>
                  <a:srgbClr val="222222"/>
                </a:solidFill>
                <a:latin typeface="Calibri"/>
              </a:rPr>
              <a:t>•  Customisation of an engaging 60 minute interactive keynote to maximise learning outcomes;</a:t>
            </a:r>
          </a:p>
          <a:p>
            <a:pPr>
              <a:spcAft>
                <a:spcPts val="800"/>
              </a:spcAft>
            </a:pPr>
            <a:r>
              <a:rPr sz="1300">
                <a:solidFill>
                  <a:srgbClr val="222222"/>
                </a:solidFill>
                <a:latin typeface="Calibri"/>
              </a:rPr>
              <a:t>•  Customised skill modules to match the desired programme outcomes delivered;</a:t>
            </a:r>
          </a:p>
          <a:p>
            <a:pPr>
              <a:spcAft>
                <a:spcPts val="800"/>
              </a:spcAft>
            </a:pPr>
            <a:r>
              <a:rPr sz="1300">
                <a:solidFill>
                  <a:srgbClr val="222222"/>
                </a:solidFill>
                <a:latin typeface="Calibri"/>
              </a:rPr>
              <a:t>•  Debrief calls with the programme team for feedback; and</a:t>
            </a:r>
          </a:p>
          <a:p>
            <a:pPr>
              <a:spcAft>
                <a:spcPts val="800"/>
              </a:spcAft>
            </a:pPr>
            <a:r>
              <a:rPr sz="1300">
                <a:solidFill>
                  <a:srgbClr val="222222"/>
                </a:solidFill>
                <a:latin typeface="Calibri"/>
              </a:rPr>
              <a:t>•  Prep calls for coordinating logistics.</a:t>
            </a:r>
          </a:p>
        </p:txBody>
      </p:sp>
      <p:sp>
        <p:nvSpPr>
          <p:cNvPr id="5" name="TextBox 4"/>
          <p:cNvSpPr txBox="1"/>
          <p:nvPr/>
        </p:nvSpPr>
        <p:spPr>
          <a:xfrm>
            <a:off x="6217920" y="1371600"/>
            <a:ext cx="5029200" cy="365760"/>
          </a:xfrm>
          <a:prstGeom prst="rect">
            <a:avLst/>
          </a:prstGeom>
          <a:noFill/>
        </p:spPr>
        <p:txBody>
          <a:bodyPr wrap="square" anchor="t">
            <a:spAutoFit/>
          </a:bodyPr>
          <a:lstStyle/>
          <a:p>
            <a:pPr algn="l"/>
            <a:r>
              <a:rPr sz="1600" b="1" i="0">
                <a:solidFill>
                  <a:srgbClr val="0B1F33"/>
                </a:solidFill>
                <a:latin typeface="Montserrat"/>
              </a:rPr>
              <a:t>DELIVERY</a:t>
            </a:r>
          </a:p>
        </p:txBody>
      </p:sp>
      <p:sp>
        <p:nvSpPr>
          <p:cNvPr id="6" name="TextBox 5"/>
          <p:cNvSpPr txBox="1"/>
          <p:nvPr/>
        </p:nvSpPr>
        <p:spPr>
          <a:xfrm>
            <a:off x="6217920" y="1828800"/>
            <a:ext cx="5029200" cy="2743200"/>
          </a:xfrm>
          <a:prstGeom prst="rect">
            <a:avLst/>
          </a:prstGeom>
          <a:noFill/>
        </p:spPr>
        <p:txBody>
          <a:bodyPr wrap="square">
            <a:spAutoFit/>
          </a:bodyPr>
          <a:lstStyle/>
          <a:p>
            <a:pPr>
              <a:spcAft>
                <a:spcPts val="800"/>
              </a:spcAft>
            </a:pPr>
            <a:r>
              <a:rPr sz="1300">
                <a:solidFill>
                  <a:srgbClr val="222222"/>
                </a:solidFill>
                <a:latin typeface="Calibri"/>
              </a:rPr>
              <a:t>•  Lead facilitator &amp; adventurer James Castrission engage audience by linking together meeting facilitation to create a compelling impactful experience;</a:t>
            </a:r>
          </a:p>
          <a:p>
            <a:pPr>
              <a:spcAft>
                <a:spcPts val="800"/>
              </a:spcAft>
            </a:pPr>
            <a:r>
              <a:rPr sz="1300">
                <a:solidFill>
                  <a:srgbClr val="222222"/>
                </a:solidFill>
                <a:latin typeface="Calibri"/>
              </a:rPr>
              <a:t>•  Engaging and fun face-to-face delivery; and</a:t>
            </a:r>
          </a:p>
          <a:p>
            <a:pPr>
              <a:spcAft>
                <a:spcPts val="800"/>
              </a:spcAft>
            </a:pPr>
            <a:r>
              <a:rPr sz="1300">
                <a:solidFill>
                  <a:srgbClr val="222222"/>
                </a:solidFill>
                <a:latin typeface="Calibri"/>
              </a:rPr>
              <a:t>•  Tailored Insightful Thinking Questions.</a:t>
            </a:r>
          </a:p>
        </p:txBody>
      </p:sp>
      <p:sp>
        <p:nvSpPr>
          <p:cNvPr id="7" name="Rectangle 6"/>
          <p:cNvSpPr/>
          <p:nvPr/>
        </p:nvSpPr>
        <p:spPr>
          <a:xfrm>
            <a:off x="731520" y="5120640"/>
            <a:ext cx="10698480" cy="12801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7EC8E3"/>
                </a:solidFill>
                <a:latin typeface="Montserrat"/>
              </a:rPr>
              <a:t>DESIGN &amp; DELIVERY INVESTMENT
</a:t>
            </a:r>
          </a:p>
          <a:p>
            <a:pPr algn="ctr"/>
            <a:r>
              <a:rPr sz="1800" b="1">
                <a:solidFill>
                  <a:srgbClr val="FFFFFF"/>
                </a:solidFill>
                <a:latin typeface="Montserrat"/>
              </a:rPr>
              <a:t>60 Minute Regular Investment - $8,500 AUD ex GST + Travel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extBox 1"/>
          <p:cNvSpPr txBox="1"/>
          <p:nvPr/>
        </p:nvSpPr>
        <p:spPr>
          <a:xfrm>
            <a:off x="914400" y="2194560"/>
            <a:ext cx="10332720" cy="914400"/>
          </a:xfrm>
          <a:prstGeom prst="rect">
            <a:avLst/>
          </a:prstGeom>
          <a:noFill/>
        </p:spPr>
        <p:txBody>
          <a:bodyPr wrap="square" anchor="t">
            <a:spAutoFit/>
          </a:bodyPr>
          <a:lstStyle/>
          <a:p>
            <a:pPr algn="l"/>
            <a:r>
              <a:rPr sz="4000" b="1" i="0">
                <a:solidFill>
                  <a:srgbClr val="FFFFFF"/>
                </a:solidFill>
                <a:latin typeface="Montserrat"/>
              </a:rPr>
              <a:t>THANK YOU!</a:t>
            </a:r>
          </a:p>
        </p:txBody>
      </p:sp>
      <p:sp>
        <p:nvSpPr>
          <p:cNvPr id="3" name="TextBox 2"/>
          <p:cNvSpPr txBox="1"/>
          <p:nvPr/>
        </p:nvSpPr>
        <p:spPr>
          <a:xfrm>
            <a:off x="914400" y="3383280"/>
            <a:ext cx="10332720" cy="1828800"/>
          </a:xfrm>
          <a:prstGeom prst="rect">
            <a:avLst/>
          </a:prstGeom>
          <a:noFill/>
        </p:spPr>
        <p:txBody>
          <a:bodyPr wrap="square" anchor="t">
            <a:spAutoFit/>
          </a:bodyPr>
          <a:lstStyle/>
          <a:p>
            <a:pPr algn="l"/>
            <a:r>
              <a:rPr sz="1600" b="0" i="0">
                <a:solidFill>
                  <a:srgbClr val="7EC8E3"/>
                </a:solidFill>
                <a:latin typeface="Calibri"/>
              </a:rPr>
              <a:t>James Castrission I Lead Facilitator</a:t>
            </a:r>
          </a:p>
          <a:p>
            <a:pPr algn="l"/>
            <a:r>
              <a:rPr sz="1600" b="0" i="0">
                <a:solidFill>
                  <a:srgbClr val="7EC8E3"/>
                </a:solidFill>
                <a:latin typeface="Calibri"/>
              </a:rPr>
              <a:t>M: +61 402 904 334</a:t>
            </a:r>
          </a:p>
          <a:p>
            <a:pPr algn="l"/>
            <a:r>
              <a:rPr sz="1600" b="0" i="0">
                <a:solidFill>
                  <a:srgbClr val="7EC8E3"/>
                </a:solidFill>
                <a:latin typeface="Calibri"/>
              </a:rPr>
              <a:t>E: james@myadventuregroup.com.au</a:t>
            </a:r>
          </a:p>
          <a:p>
            <a:pPr algn="l"/>
            <a:r>
              <a:rPr sz="1600" b="0" i="0">
                <a:solidFill>
                  <a:srgbClr val="7EC8E3"/>
                </a:solidFill>
                <a:latin typeface="Calibri"/>
              </a:rPr>
              <a:t>W: www.myadventuregroup.com.au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